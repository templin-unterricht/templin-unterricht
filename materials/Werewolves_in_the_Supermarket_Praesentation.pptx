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Licht dimmen, evtl. Geräusch (Wolfsgeheul / Kühlschrankbrummen). Titel stehen lassen, bis Ruhe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Langsam und leise vorlesen. Evtl. nachfragen: What is a werewolf? (Werwolf) – What is "staff"? (Belegschaft).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 kurz erklären, deutsche Namen nur zur Orientierung. Der Shift Supervisor ist keine Karte – er wird am ersten Morgen gewählt (optional, kostet ca. 3 Minuten).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Grundriss ist identisch mit dem Arbeitsblatt in Teil 2. Jede Abteilung ist 2–3-mal vergeben, deshalb können sich Personen gegenseitig bestätigen – und Werwölfe, die lügen, fliegen auf.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Tipp: Während der Nacht leise auf den Tisch klopfen lassen – dann hört man nicht, wer sich bewegt. Skript für die Spielleitung: siehe Lehrerhandreichung.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Person mit den meisten Stimmen dreht ihre Karte um und wird Ghost. Bei Gleichstand: Shift Supervisor entscheidet (oder keiner scheidet aus). Zeit hart begrenzen – Timer einblenden.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kann während des Spiels stehen bleiben, oder: Sprechkarten auf den Tischen (Kopiervorlage). Pro-Level: suspicious = verdächtig.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Ghost-Strichliste aus der Kopiervorlage austeilen. Ghosts dürfen ihre Karte offen vor sich legen.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Stuhlkreis. Vorteil: gemeinsames Erlebnis, Lehrkraft hört alle. Nachteil: lange Wartezeiten – deshalb Ghost-Aufgabe konsequent einsetzen.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Stuhlkreise, möglichst weit auseinander (oder zweiter Raum/Flur). Night Manager = sehr starke Person mit Skriptkarte. Beide Gruppen starten die Nacht gleichzeitig, wenn die Folie "Night falls" erscheint.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während jeder Nacht zeigen. Zum Springen in der Bildschirmpräsentation: Foliennummer 12 +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Springen: 13 + Enter. Abteilung = Alibi-Karte des Opfers. Das Opfer liest seine Rolle vor: "I was a ___."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 zum Arbeitsblatt "Where can I find ...?". Der Grundriss auf dem AB ist derselbe wie auf Folie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WEREWOLVES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C6FF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the Supermarket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night at FreshMart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F3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6751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It’s 10 p.m.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15544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FreshMart is closed. The lights are off.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are still in the store. They check the shelves.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tonight is a full moon …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your colleagues are </a:t>
            </a:r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werewolves.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554480" y="374904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78308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Find the werewolves before they eat the whole team!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the staff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gets a secret role card. Don’t show it to anybody!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3B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7739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Werewolves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Werwölfe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 you choose a victim together.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645920"/>
            <a:ext cx="640080" cy="64008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C6F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17739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0624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Detective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Seherin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 you check one person’s card.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645920"/>
            <a:ext cx="640080" cy="64008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7FD3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77393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medicine (save) and one poison (kill).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2461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B46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55701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Butcher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463040" y="3794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Jäger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are out, you take one person with you.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291840" y="32461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74720" y="3429000"/>
            <a:ext cx="640080" cy="64008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F3C4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736" y="3557016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20624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Supervisor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4206240" y="3794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Bürgermeister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34747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Elected on day 1. Your vote counts twice.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035040" y="32461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17920" y="3429000"/>
            <a:ext cx="640080" cy="64008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C9B6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557016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94944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Assistants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6949440" y="3794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Dorfbewohner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62179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power. Talk, listen, vote!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alibi card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get a department card. This is where you were last night.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solidFill>
            <a:srgbClr val="0E13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  ·  staff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214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82880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93392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993392" y="21214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&amp; Sweets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64992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21214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21214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Food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2862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08152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278892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93392" y="2862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93392" y="308152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&amp; Vegetables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78892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64992" y="2862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7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364992" y="308152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&amp; Sausages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78892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36592" y="2862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8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736592" y="308152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1280160" cy="868680"/>
          </a:xfrm>
          <a:prstGeom prst="rect">
            <a:avLst/>
          </a:prstGeom>
          <a:solidFill>
            <a:srgbClr val="2A1A3A"/>
          </a:solidFill>
          <a:ln w="12700">
            <a:solidFill>
              <a:srgbClr val="5A3A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" y="3840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20240" y="3749040"/>
            <a:ext cx="1280160" cy="868680"/>
          </a:xfrm>
          <a:prstGeom prst="rect">
            <a:avLst/>
          </a:prstGeom>
          <a:solidFill>
            <a:srgbClr val="2A1A3A"/>
          </a:solidFill>
          <a:ln w="12700">
            <a:solidFill>
              <a:srgbClr val="5A3A7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93392" y="3840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749040"/>
            <a:ext cx="1280160" cy="868680"/>
          </a:xfrm>
          <a:prstGeom prst="rect">
            <a:avLst/>
          </a:prstGeom>
          <a:solidFill>
            <a:srgbClr val="2A1A3A"/>
          </a:solidFill>
          <a:ln w="12700">
            <a:solidFill>
              <a:srgbClr val="5A3A7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64992" y="3840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749040"/>
            <a:ext cx="1280160" cy="868680"/>
          </a:xfrm>
          <a:prstGeom prst="rect">
            <a:avLst/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36592" y="38221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9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736592" y="40416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&amp; Cleaning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1417320"/>
            <a:ext cx="2377440" cy="3154680"/>
          </a:xfrm>
          <a:prstGeom prst="roundRect">
            <a:avLst>
              <a:gd name="adj" fmla="val 4615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40080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morning: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19202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night I was in the bakery.”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tell the truth …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or you can lie.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department? Then you can say: “Yes, I saw her there!”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night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141A3C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216152"/>
            <a:ext cx="493776" cy="493776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F3C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" y="1314907"/>
            <a:ext cx="296266" cy="2962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1430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143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closes their eyes.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89280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141A3C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965960"/>
            <a:ext cx="493776" cy="493776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3B5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2064715"/>
            <a:ext cx="296266" cy="2962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189280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189280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Werewolves open their eyes and point at a victim.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2642616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141A3C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2715768"/>
            <a:ext cx="493776" cy="493776"/>
          </a:xfrm>
          <a:prstGeom prst="ellipse">
            <a:avLst/>
          </a:prstGeom>
          <a:solidFill>
            <a:srgbClr val="0E1330"/>
          </a:solidFill>
          <a:ln w="19050">
            <a:solidFill>
              <a:srgbClr val="C6FF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" y="2814523"/>
            <a:ext cx="296266" cy="2962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64261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FF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264261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Detective points at one person and sees their card.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392424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141A3C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465576"/>
            <a:ext cx="493776" cy="493776"/>
          </a:xfrm>
          <a:prstGeom prst="ellipse">
            <a:avLst/>
          </a:prstGeom>
          <a:solidFill>
            <a:srgbClr val="0E1330"/>
          </a:solidFill>
          <a:ln w="19050">
            <a:solidFill>
              <a:srgbClr val="7FD3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" y="3564331"/>
            <a:ext cx="296266" cy="2962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39242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3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645920" y="33924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Pharmacist: medicine? poison? or nothing?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48640" y="4142232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141A3C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" y="4215384"/>
            <a:ext cx="493776" cy="493776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B46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" y="4314139"/>
            <a:ext cx="296266" cy="29626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4142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645920" y="4142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Morning. Everybody opens their eyes.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675120" y="1143000"/>
            <a:ext cx="2011680" cy="3639312"/>
          </a:xfrm>
          <a:prstGeom prst="roundRect">
            <a:avLst>
              <a:gd name="adj" fmla="val 5455"/>
            </a:avLst>
          </a:prstGeom>
          <a:solidFill>
            <a:srgbClr val="141A3C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6812280" y="1280160"/>
            <a:ext cx="1783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talking.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peeking.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hands still.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 quietly on the table while the others are awake.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steps. You have 3 minutes to talk.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645920"/>
            <a:ext cx="731520" cy="73152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3B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17922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 Accuse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who you think is a werewolf.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2194560" cy="640080"/>
          </a:xfrm>
          <a:prstGeom prst="rect">
            <a:avLst/>
          </a:prstGeom>
          <a:solidFill>
            <a:srgbClr val="0E13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Tom is a werewolf.”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645920"/>
            <a:ext cx="731520" cy="73152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C6F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7922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FF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 Defend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971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accused person gives an alibi.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749040"/>
            <a:ext cx="2194560" cy="640080"/>
          </a:xfrm>
          <a:prstGeom prst="rect">
            <a:avLst/>
          </a:prstGeom>
          <a:solidFill>
            <a:srgbClr val="0E13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innocent! I was in aisle 3.”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0" y="1645920"/>
            <a:ext cx="731520" cy="73152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7FD3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17922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3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 Vote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971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points at one person. Most votes = out.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3749040"/>
            <a:ext cx="2194560" cy="640080"/>
          </a:xfrm>
          <a:prstGeom prst="rect">
            <a:avLst/>
          </a:prstGeom>
          <a:solidFill>
            <a:srgbClr val="0E13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 – 2 – 1 – vote!”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Talk like a pro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level. ★ is good. ★★ is even better.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4173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242C5A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FF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★  Basic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3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★★  Pro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___ is a werewolf.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in the ___ 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innocent!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saw him / her.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 didn’t see him / her.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vote for ___ 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___ is a werewolf because 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not true! I was in aisle ___ 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didn’t you say that before?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strange / suspicious.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 with ___ . / I don’t agree.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me, I’m on your side.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035040" y="100584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731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You’re out?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C6FF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Become a ghost!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Ghosts don’t talk and don’t vote.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ghosts listen very carefully.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Ghost sheet. Make a tally mark (|||) for every phrase you hear.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new words.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end, the ghosts report: What did people say most?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wins?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28016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2A1424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463040"/>
            <a:ext cx="1005840" cy="100584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C6FF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664208"/>
            <a:ext cx="603504" cy="603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463040"/>
            <a:ext cx="1005840" cy="100584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3B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664208"/>
            <a:ext cx="603504" cy="6035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FF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staff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154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when all werewolves are out.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84632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3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werewolves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3154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when there are as many werewolves as staff.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Version A: One big store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class plays together. Chairs in a big circle.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297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players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players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Werewolves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3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3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Detective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Butcher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Assistants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2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46304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29400" y="1645920"/>
            <a:ext cx="822960" cy="82296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F3C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81051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26517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master: your teacher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time: 3 min per day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time: about 35 min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Version B: Two stores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groups play at the same time. More talking for everybody!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C6FF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FF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FreshMart North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master: your teacher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 players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 players: 2 Werewolves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 players: 3 Werewolves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Detective · 1 Pharmacist · 1 Butcher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others: Shop Assistants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1A2146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45920"/>
            <a:ext cx="685800" cy="68580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7FD3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830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607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D3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FreshMart South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master: a student Night Manager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 players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 players: 2 Werewolves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 players: 3 Werewolves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Detective · 1 Pharmacist · 1 Butcher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others: Shop Assistants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Night falls over FreshMart …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Everybody, close your eyes.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Good morning, FreshMart!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Everybody, open your eyes.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no … somebody is missing!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found a name badge in the ______________ department.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“Excuse me, where can I find …?”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is open again. Now the customers come. Can you help them?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2A1830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971800"/>
            <a:ext cx="731520" cy="73152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F3C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1181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3383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 products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7889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2A1830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971800"/>
            <a:ext cx="731520" cy="73152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F3C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31181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3383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to, between, at the back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7889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2A1830"/>
          </a:solidFill>
          <a:ln w="12700">
            <a:solidFill>
              <a:srgbClr val="2E3A7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2971800"/>
            <a:ext cx="731520" cy="731520"/>
          </a:xfrm>
          <a:prstGeom prst="ellipse">
            <a:avLst/>
          </a:prstGeom>
          <a:solidFill>
            <a:srgbClr val="0E1330"/>
          </a:solidFill>
          <a:ln w="19050">
            <a:solidFill>
              <a:srgbClr val="FFF3C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31181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3383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shop assistant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3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store is safe …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FF3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… for now.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3 departments + 1 sentence: “The ___ is next to the ___.”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Werewolves in the Supermarket</dc:title>
  <dc:subject>PptxGenJS Presentation</dc:subject>
  <dc:creator>PptxGenJS</dc:creator>
  <cp:lastModifiedBy>PptxGenJS</cp:lastModifiedBy>
  <cp:revision>1</cp:revision>
  <dcterms:created xsi:type="dcterms:W3CDTF">2026-09-18T05:37:48Z</dcterms:created>
  <dcterms:modified xsi:type="dcterms:W3CDTF">2026-09-18T05:37:48Z</dcterms:modified>
</cp:coreProperties>
</file>